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FBC62-92DA-47F5-8A9D-921ACCA00062}" v="120" dt="2026-07-30T16:51:11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WI PATIL" userId="83282c4f62a1fcbf" providerId="LiveId" clId="{910152B1-9E0C-4625-836B-72747CCBACBE}"/>
    <pc:docChg chg="addSld delSld modSld">
      <pc:chgData name="MANSWI PATIL" userId="83282c4f62a1fcbf" providerId="LiveId" clId="{910152B1-9E0C-4625-836B-72747CCBACBE}" dt="2026-07-30T16:56:04.271" v="38" actId="20577"/>
      <pc:docMkLst>
        <pc:docMk/>
      </pc:docMkLst>
      <pc:sldChg chg="new del">
        <pc:chgData name="MANSWI PATIL" userId="83282c4f62a1fcbf" providerId="LiveId" clId="{910152B1-9E0C-4625-836B-72747CCBACBE}" dt="2026-07-30T16:54:47.339" v="1" actId="2696"/>
        <pc:sldMkLst>
          <pc:docMk/>
          <pc:sldMk cId="19855431" sldId="266"/>
        </pc:sldMkLst>
      </pc:sldChg>
      <pc:sldChg chg="modSp new mod">
        <pc:chgData name="MANSWI PATIL" userId="83282c4f62a1fcbf" providerId="LiveId" clId="{910152B1-9E0C-4625-836B-72747CCBACBE}" dt="2026-07-30T16:56:04.271" v="38" actId="20577"/>
        <pc:sldMkLst>
          <pc:docMk/>
          <pc:sldMk cId="3356198264" sldId="266"/>
        </pc:sldMkLst>
        <pc:spChg chg="mod">
          <ac:chgData name="MANSWI PATIL" userId="83282c4f62a1fcbf" providerId="LiveId" clId="{910152B1-9E0C-4625-836B-72747CCBACBE}" dt="2026-07-30T16:56:04.271" v="38" actId="20577"/>
          <ac:spMkLst>
            <pc:docMk/>
            <pc:sldMk cId="3356198264" sldId="266"/>
            <ac:spMk id="3" creationId="{4B421C2E-5CB6-6EED-FF4B-1730946FCBB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22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24575,'30'31'0,"2"-1"0,0-2 0,2-1 0,1-2 0,42 22 0,-62-37-195,0 0 0,-1 1 0,0 0 0,-1 1 0,0 1 0,12 16 0,-14-15-6631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5:58:25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0 716 24233,'608'-716'0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3:20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3:4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24575,'68'66'0,"81"71"0,-115-108 0,6 8 0,-27-21-111,1 2-516,32 30 0,-33-38-6199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16:03:4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0 830 24575,'8'-8'0,"-2"-1"0,1 0 0,9-17 0,10-14 0,21-31 0,-34 49 0,1 1 0,18-21 0,-2 9 0,102-126 0,-77 87 0,102-102 0,-108 122 0,30-28-1365,-69 68-5461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6A00C-C202-43C5-A564-60B240F7A33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D4C70-2760-4876-A9CC-315024439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342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D4C70-2760-4876-A9CC-3150244398C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362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00B6-A716-E54B-64DE-7C4CFDB71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C1F65-D99D-3F42-2CF3-FC80C4290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E5272-2C79-28EF-EF72-4E0C86126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0DCF-A1AA-E103-0E5E-88D365EC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33093-387B-710A-EB15-D98C8961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77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FB40-91AF-33B6-2B0C-2636FD29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12925-15ED-8BD6-2E97-C6940CC5D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F94A6-B860-0435-6A8E-38C9196F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D4ECC-0C34-90BC-820D-9364E5EE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2E83D-3C33-352F-943D-0590698B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14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AC3B-4092-ADD6-75CF-698E9B50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D3CF1-42B6-D3E4-C0C3-40A3690B9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8BCFE-6EC9-D72F-143A-CFEE7739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A18AC-37CF-B659-F5C2-D71CE9E9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C2159-8F0F-5661-29F9-C1E358B2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8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9ECF-14E1-E915-4FC5-7AA492E8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BA64-DE79-0385-8CC8-CD9B60849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32DD7-BDB0-5E61-F534-4CB54BEA9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92EE1-1FEC-2F01-6A4A-87AA9039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20A09-9ECD-2A8E-5D1D-F0551F71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039CF-3CEE-22D2-CE2F-8B12D1A7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50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895F-4A1F-A5BC-458D-D34DC860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3CE2E-EF93-D700-02C9-83818E439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A85EE-5A35-E4A0-8F81-CBFADC005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605BB-3543-FC25-193C-80788C918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00ECB-71E6-0EE0-EB71-AC04DFD9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DDC33-945D-8534-F178-3C31DCB3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BEA8A-243A-C3EB-42A6-2464FAAC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A9652-969A-4883-E986-7DD151CD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67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BB9D-6369-2ACE-C43C-171ECAE7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DA16-D12D-F10D-354B-19E89857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258FD-FCAA-1DAA-72F2-1ED4EDF3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F44A4-727A-6737-2942-A192F2EA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4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E84C1-22BE-B5FF-0196-56D963DC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330FC-747F-8624-46B1-0A1016A8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4EB0-A8B8-4D00-4AD5-98054CCC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81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B369-C1E5-608E-801A-E992342C3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9930-6DD3-A16B-DA59-0318701CD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604EB-A0E2-19B5-26C4-C1DE27C5E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AB06B-EF88-1290-F19B-AA919AD6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6D595-B241-D4A8-2D40-BDFB7DE1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A836A-0B3A-63F3-DF2B-774EB6F1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16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AF159-92C9-298F-FBFA-004272170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5FF95-E6C0-0FB2-C6F6-1B329F7DB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594A3-4EB1-91BB-9B0F-7624CA8D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3FFC4-782E-9595-5881-6B118844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9B38C-2928-506B-E2F6-F83D3163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BDA99-87E9-F70E-B1CD-087E0BFE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0A31-6216-9518-3CCB-596BAE10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478D7-1317-7832-9E97-181B87C77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E31D-CE16-756D-B3C4-6F549AF4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9C97A-3970-9221-1D47-1CDD58EB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5204A-CFB2-290E-7464-29515BA2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92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AEB0D-4CEA-87D9-A612-92D8E7F483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5C4B9-7CF0-9E6F-467A-DDAD44F61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7F050-B01C-C710-3CA9-8E69A29B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14158-4799-B73B-51E4-53F1C733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283D-FB0B-F9EC-77DA-05C2AFDF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820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0000"/>
                <a:lumOff val="60000"/>
              </a:schemeClr>
            </a:gs>
            <a:gs pos="8300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493E9-1796-796E-C9B9-D919B8F6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83C81-3FFB-18DB-1C08-F81D318C2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A9458-2C4D-4F13-96FF-DB1E0387E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3C783-A6D1-43AF-AF3F-65790251C7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A7F1-04BF-67DC-CA05-8132FB679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8B881-CD21-9B39-2472-CFE5DA836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B7DD9-ACD0-4FF4-9BDE-F6A6C3EDA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1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BC29-5A10-1B41-78C5-A1F0E65C2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4465"/>
            <a:ext cx="9144000" cy="204510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Phishing Awareness  Training</a:t>
            </a:r>
            <a:endParaRPr lang="en-IN" sz="48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A1CF9-40F9-2D2D-4D42-8CEE4A560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560493" y="3429000"/>
            <a:ext cx="16408597" cy="2428875"/>
          </a:xfrm>
        </p:spPr>
        <p:txBody>
          <a:bodyPr>
            <a:norm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                                                                   </a:t>
            </a:r>
            <a:r>
              <a:rPr lang="en-US" dirty="0" err="1">
                <a:latin typeface="Bell MT" panose="02020503060305020303" pitchFamily="18" charset="0"/>
              </a:rPr>
              <a:t>Mrs.Manswi</a:t>
            </a:r>
            <a:r>
              <a:rPr lang="en-US" dirty="0">
                <a:latin typeface="Bell MT" panose="02020503060305020303" pitchFamily="18" charset="0"/>
              </a:rPr>
              <a:t> Mohan Patil</a:t>
            </a:r>
          </a:p>
          <a:p>
            <a:r>
              <a:rPr lang="en-US" dirty="0">
                <a:latin typeface="Bell MT" panose="02020503060305020303" pitchFamily="18" charset="0"/>
              </a:rPr>
              <a:t>                                                                          Course Name : Cyber  security</a:t>
            </a:r>
          </a:p>
          <a:p>
            <a:r>
              <a:rPr lang="en-US" dirty="0">
                <a:latin typeface="Bell MT" panose="02020503060305020303" pitchFamily="18" charset="0"/>
              </a:rPr>
              <a:t>                                                       Date : 20July 2026                                                            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5122" name="Picture 2" descr="Cyber Crime Concept with Hacker - Stock Illustration [36751374] - PIXTA">
            <a:extLst>
              <a:ext uri="{FF2B5EF4-FFF2-40B4-BE49-F238E27FC236}">
                <a16:creationId xmlns:a16="http://schemas.microsoft.com/office/drawing/2014/main" id="{63A059BE-CDE2-E312-1B7B-950ADD443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2771774"/>
            <a:ext cx="4600574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91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B41BE03-E54C-3317-1D55-88C9CC14287F}"/>
              </a:ext>
            </a:extLst>
          </p:cNvPr>
          <p:cNvSpPr txBox="1">
            <a:spLocks/>
          </p:cNvSpPr>
          <p:nvPr/>
        </p:nvSpPr>
        <p:spPr>
          <a:xfrm>
            <a:off x="2534" y="89008"/>
            <a:ext cx="12037066" cy="663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5400" dirty="0">
                <a:latin typeface="Bahnschrift Condensed" panose="020B0502040204020203" pitchFamily="34" charset="0"/>
              </a:rPr>
              <a:t>What  is  Phishing ?</a:t>
            </a:r>
            <a:br>
              <a:rPr lang="en-US" sz="5400" dirty="0">
                <a:latin typeface="Bahnschrift Condensed" panose="020B0502040204020203" pitchFamily="34" charset="0"/>
              </a:rPr>
            </a:br>
            <a:r>
              <a:rPr lang="en-US" sz="3200" dirty="0">
                <a:latin typeface="Bahnschrift Condensed" panose="020B0502040204020203" pitchFamily="34" charset="0"/>
              </a:rPr>
              <a:t> </a:t>
            </a:r>
            <a:br>
              <a:rPr lang="en-US" sz="3200" dirty="0">
                <a:latin typeface="Bahnschrift Condensed" panose="020B0502040204020203" pitchFamily="34" charset="0"/>
              </a:rPr>
            </a:br>
            <a:r>
              <a:rPr lang="en-US" sz="3200" dirty="0">
                <a:latin typeface="Bell MT" panose="02020503060305020303" pitchFamily="18" charset="0"/>
              </a:rPr>
              <a:t>1. </a:t>
            </a:r>
            <a:r>
              <a:rPr lang="en-US" sz="3200" dirty="0">
                <a:latin typeface="Bell MT" panose="02020503060305020303" pitchFamily="18" charset="0"/>
                <a:cs typeface="Aparajita" panose="02020603050405020304" pitchFamily="18" charset="0"/>
              </a:rPr>
              <a:t>Phishing is a cyberattack .</a:t>
            </a:r>
            <a:br>
              <a:rPr lang="en-US" sz="3200" dirty="0">
                <a:latin typeface="Bell MT" panose="02020503060305020303" pitchFamily="18" charset="0"/>
                <a:cs typeface="Aparajita" panose="02020603050405020304" pitchFamily="18" charset="0"/>
              </a:rPr>
            </a:br>
            <a:br>
              <a:rPr lang="en-US" sz="3200" dirty="0">
                <a:latin typeface="Bell MT" panose="02020503060305020303" pitchFamily="18" charset="0"/>
                <a:cs typeface="Aparajita" panose="02020603050405020304" pitchFamily="18" charset="0"/>
              </a:rPr>
            </a:br>
            <a:r>
              <a:rPr lang="en-US" sz="3200" dirty="0">
                <a:latin typeface="Bell MT" panose="02020503060305020303" pitchFamily="18" charset="0"/>
                <a:cs typeface="Aparajita" panose="02020603050405020304" pitchFamily="18" charset="0"/>
              </a:rPr>
              <a:t>2. Attackers pretend to be trusted people or </a:t>
            </a:r>
            <a:r>
              <a:rPr lang="en-US" sz="3200" dirty="0" err="1">
                <a:latin typeface="Bell MT" panose="02020503060305020303" pitchFamily="18" charset="0"/>
                <a:cs typeface="Aparajita" panose="02020603050405020304" pitchFamily="18" charset="0"/>
              </a:rPr>
              <a:t>companines</a:t>
            </a:r>
            <a:r>
              <a:rPr lang="en-US" sz="3200" dirty="0">
                <a:latin typeface="Bell MT" panose="02020503060305020303" pitchFamily="18" charset="0"/>
                <a:cs typeface="Aparajita" panose="02020603050405020304" pitchFamily="18" charset="0"/>
              </a:rPr>
              <a:t> .</a:t>
            </a:r>
            <a:br>
              <a:rPr lang="en-IN" sz="3200" dirty="0">
                <a:latin typeface="Bell MT" panose="02020503060305020303" pitchFamily="18" charset="0"/>
                <a:cs typeface="Aparajita" panose="02020603050405020304" pitchFamily="18" charset="0"/>
              </a:rPr>
            </a:br>
            <a:br>
              <a:rPr lang="en-IN" sz="3200" dirty="0">
                <a:latin typeface="Bell MT" panose="02020503060305020303" pitchFamily="18" charset="0"/>
                <a:cs typeface="Aparajita" panose="02020603050405020304" pitchFamily="18" charset="0"/>
              </a:rPr>
            </a:br>
            <a:r>
              <a:rPr lang="en-IN" sz="3200" dirty="0">
                <a:latin typeface="Bell MT" panose="02020503060305020303" pitchFamily="18" charset="0"/>
                <a:cs typeface="Aparajita" panose="02020603050405020304" pitchFamily="18" charset="0"/>
              </a:rPr>
              <a:t>3. Their goal is to steal passwords , bank details , or personal       information .</a:t>
            </a:r>
            <a:br>
              <a:rPr lang="en-IN" sz="3200" dirty="0">
                <a:latin typeface="Bell MT" panose="02020503060305020303" pitchFamily="18" charset="0"/>
              </a:rPr>
            </a:br>
            <a:endParaRPr lang="en-IN" sz="3200" dirty="0">
              <a:latin typeface="Bell MT" panose="02020503060305020303" pitchFamily="18" charset="0"/>
            </a:endParaRPr>
          </a:p>
        </p:txBody>
      </p:sp>
      <p:pic>
        <p:nvPicPr>
          <p:cNvPr id="5" name="Picture 2" descr="Best Hacker Illustration Vector Stock Vector (Royalty Free) 2090433604 |  Shutterstock">
            <a:extLst>
              <a:ext uri="{FF2B5EF4-FFF2-40B4-BE49-F238E27FC236}">
                <a16:creationId xmlns:a16="http://schemas.microsoft.com/office/drawing/2014/main" id="{64DD5C21-2BC7-259A-27EE-13211A763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025" y="222925"/>
            <a:ext cx="344367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40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DF7F-DC30-53CD-117F-B57EA93B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800" dirty="0">
                <a:latin typeface="Bahnschrift Condensed" panose="020B0502040204020203" pitchFamily="34" charset="0"/>
              </a:rPr>
              <a:t>Types  of  Phishing ?</a:t>
            </a:r>
            <a:endParaRPr lang="en-IN" sz="4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76FB-FE5B-91AF-1810-4D4463AEC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Bell MT" panose="02020503060305020303" pitchFamily="18" charset="0"/>
              </a:rPr>
              <a:t>Email  </a:t>
            </a:r>
            <a:r>
              <a:rPr lang="en-US" sz="3200" dirty="0" err="1">
                <a:latin typeface="Bell MT" panose="02020503060305020303" pitchFamily="18" charset="0"/>
              </a:rPr>
              <a:t>Phishin</a:t>
            </a:r>
            <a:endParaRPr lang="en-US" sz="3200" dirty="0">
              <a:latin typeface="Bell MT" panose="02020503060305020303" pitchFamily="18" charset="0"/>
            </a:endParaRPr>
          </a:p>
          <a:p>
            <a:endParaRPr lang="en-US" sz="3200" dirty="0">
              <a:latin typeface="Bell MT" panose="02020503060305020303" pitchFamily="18" charset="0"/>
            </a:endParaRPr>
          </a:p>
          <a:p>
            <a:r>
              <a:rPr lang="en-US" sz="3200" dirty="0">
                <a:latin typeface="Bell MT" panose="02020503060305020303" pitchFamily="18" charset="0"/>
              </a:rPr>
              <a:t>Spear Phishing </a:t>
            </a:r>
          </a:p>
          <a:p>
            <a:endParaRPr lang="en-US" sz="3200" dirty="0">
              <a:latin typeface="Bell MT" panose="02020503060305020303" pitchFamily="18" charset="0"/>
            </a:endParaRPr>
          </a:p>
          <a:p>
            <a:r>
              <a:rPr lang="en-US" sz="3200" dirty="0">
                <a:latin typeface="Bell MT" panose="02020503060305020303" pitchFamily="18" charset="0"/>
              </a:rPr>
              <a:t>Smishing (SMS)</a:t>
            </a:r>
          </a:p>
          <a:p>
            <a:endParaRPr lang="en-US" sz="3200" dirty="0">
              <a:latin typeface="Bell MT" panose="02020503060305020303" pitchFamily="18" charset="0"/>
            </a:endParaRPr>
          </a:p>
          <a:p>
            <a:r>
              <a:rPr lang="en-US" sz="3200" dirty="0">
                <a:latin typeface="Bell MT" panose="02020503060305020303" pitchFamily="18" charset="0"/>
              </a:rPr>
              <a:t>Vishing (Phone Calls)</a:t>
            </a:r>
            <a:endParaRPr lang="en-IN" sz="3200" dirty="0">
              <a:latin typeface="Bell MT" panose="02020503060305020303" pitchFamily="18" charset="0"/>
            </a:endParaRPr>
          </a:p>
        </p:txBody>
      </p:sp>
      <p:pic>
        <p:nvPicPr>
          <p:cNvPr id="1026" name="Picture 2" descr="Email symbol Images - Free Download on Magnific (formerly ...">
            <a:extLst>
              <a:ext uri="{FF2B5EF4-FFF2-40B4-BE49-F238E27FC236}">
                <a16:creationId xmlns:a16="http://schemas.microsoft.com/office/drawing/2014/main" id="{B37749E0-9193-2016-EF47-E5FB28474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824" y="681037"/>
            <a:ext cx="1800225" cy="161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AFC493-4946-D52D-AAE4-BAD41519F6C2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IN" b="0" i="0" dirty="0">
                <a:solidFill>
                  <a:srgbClr val="BDC1C6"/>
                </a:solidFill>
                <a:effectLst/>
                <a:latin typeface="Google Sans"/>
              </a:rPr>
            </a:br>
            <a:endParaRPr lang="en-IN" b="0" i="0" dirty="0">
              <a:solidFill>
                <a:srgbClr val="BDC1C6"/>
              </a:solidFill>
              <a:effectLst/>
              <a:latin typeface="Google Sans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1028" name="Picture 4" descr="Unlock icon">
            <a:extLst>
              <a:ext uri="{FF2B5EF4-FFF2-40B4-BE49-F238E27FC236}">
                <a16:creationId xmlns:a16="http://schemas.microsoft.com/office/drawing/2014/main" id="{FCED8EF7-79A4-E69B-F487-5125D56F0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50" y="4029165"/>
            <a:ext cx="2000250" cy="203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7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7904-01D9-97AE-39BD-FF4F32EB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Bahnschrift Condensed" panose="020B0502040204020203" pitchFamily="34" charset="0"/>
              </a:rPr>
              <a:t>Recognizing  Phishing  Emails 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0543-AAA9-69FF-C018-9717E4C2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ell MT" panose="02020503060305020303" pitchFamily="18" charset="0"/>
              </a:rPr>
              <a:t>Unknown  sender 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Urgent  messages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Grammer  mistakes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Suspicious  links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Unexpected  attachments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6146" name="Picture 2" descr="Cyber security hacker vector character set. Thief hacking computer stealing  online password and login information. Vector illustration Stock Vector  Image &amp; Art - Alamy">
            <a:extLst>
              <a:ext uri="{FF2B5EF4-FFF2-40B4-BE49-F238E27FC236}">
                <a16:creationId xmlns:a16="http://schemas.microsoft.com/office/drawing/2014/main" id="{2C033FC1-401E-892F-7F13-63D0EEF38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299" y="1825625"/>
            <a:ext cx="4665238" cy="336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8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43A0-D189-626D-2DBA-FA4038A51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Bahnschrift Condensed" panose="020B0502040204020203" pitchFamily="34" charset="0"/>
              </a:rPr>
              <a:t>Identifying  Fake  Websites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FABC7-7CCD-CBD7-7707-6CF383F78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533526"/>
            <a:ext cx="5791199" cy="4157662"/>
          </a:xfrm>
        </p:spPr>
        <p:txBody>
          <a:bodyPr>
            <a:norm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Check the website URL.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Look for HTTPS.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Avoid misspelled website names.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Never enter passwords on suspicious websites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2050" name="Picture 2" descr="Warning sign - Free signaling icons">
            <a:extLst>
              <a:ext uri="{FF2B5EF4-FFF2-40B4-BE49-F238E27FC236}">
                <a16:creationId xmlns:a16="http://schemas.microsoft.com/office/drawing/2014/main" id="{8DF15F44-C967-8156-6641-23118A959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850" y="123825"/>
            <a:ext cx="25146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yber security icon. shield with padlock and network. icon related to  device, protect, computer technology. line icon style. simple vector design  editable 33529078 Vector Art at Vecteezy">
            <a:extLst>
              <a:ext uri="{FF2B5EF4-FFF2-40B4-BE49-F238E27FC236}">
                <a16:creationId xmlns:a16="http://schemas.microsoft.com/office/drawing/2014/main" id="{F41CAC91-D821-508B-67B2-7480A8CB1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91674" y="4286251"/>
            <a:ext cx="2390776" cy="238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857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6669-CA5E-8EEC-109B-DE03CC76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>
                <a:latin typeface="Bahnschrift Condensed" panose="020B0502040204020203" pitchFamily="34" charset="0"/>
              </a:rPr>
              <a:t>Social   Engineering 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23837-7ED3-6686-9907-C1A42A557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Pretending  to  be  a  bank  or  company.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Creating  urgency.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Asking  for  passwords  or  OTPs.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Offering  fake  prizes.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5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168E-1F86-21DB-1D0C-0688FB98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Bahnschrift Condensed" panose="020B0502040204020203" pitchFamily="34" charset="0"/>
              </a:rPr>
              <a:t>How  to  Stay  Safe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207AB-DFA6-7DEB-FE79-6F78AFF64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79" y="1868830"/>
            <a:ext cx="10896599" cy="448333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Bell MT" panose="02020503060305020303" pitchFamily="18" charset="0"/>
              </a:rPr>
              <a:t>Don’t  click  unknown  links.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Use  strong  passwords.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Enable  Two-Factor  Authentication (2FA).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Keep  software  updated.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Report  suspicious  emails.</a:t>
            </a:r>
          </a:p>
          <a:p>
            <a:endParaRPr lang="en-IN" dirty="0"/>
          </a:p>
        </p:txBody>
      </p:sp>
      <p:pic>
        <p:nvPicPr>
          <p:cNvPr id="4098" name="Picture 2" descr="Online security and protection, criminal hacker spies in internet. Online  money thief vector concept. Hacker with laptop illustration Stock Vector  Image &amp; Art - Alamy">
            <a:extLst>
              <a:ext uri="{FF2B5EF4-FFF2-40B4-BE49-F238E27FC236}">
                <a16:creationId xmlns:a16="http://schemas.microsoft.com/office/drawing/2014/main" id="{4A0398DA-67A1-AF0F-8B47-DCC09A5F9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194891"/>
            <a:ext cx="4620637" cy="350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667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972F-E3B6-9AB7-ED82-AE1A9A83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Bahnschrift Condensed" panose="020B0502040204020203" pitchFamily="34" charset="0"/>
              </a:rPr>
              <a:t>Real –World Example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64ED-9880-E60C-76B6-6CA4206CA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ahnschrift SemiBold Condensed" panose="020B0502040204020203" pitchFamily="34" charset="0"/>
              </a:rPr>
              <a:t>Content</a:t>
            </a:r>
            <a:r>
              <a:rPr lang="en-US" dirty="0"/>
              <a:t> : </a:t>
            </a:r>
            <a:r>
              <a:rPr lang="en-US" dirty="0">
                <a:latin typeface="Bell MT" panose="02020503060305020303" pitchFamily="18" charset="0"/>
              </a:rPr>
              <a:t>Email = “Your bank account is blocked. Click here to                  verify .”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latin typeface="Bahnschrift SemiBold Condensed" panose="020B0502040204020203" pitchFamily="34" charset="0"/>
              </a:rPr>
              <a:t>Answer</a:t>
            </a:r>
            <a:r>
              <a:rPr lang="en-US" dirty="0"/>
              <a:t> :</a:t>
            </a:r>
          </a:p>
          <a:p>
            <a:r>
              <a:rPr lang="en-US" dirty="0">
                <a:latin typeface="Bell MT" panose="02020503060305020303" pitchFamily="18" charset="0"/>
              </a:rPr>
              <a:t>Don’t click the link .</a:t>
            </a:r>
          </a:p>
          <a:p>
            <a:r>
              <a:rPr lang="en-US" dirty="0">
                <a:latin typeface="Bell MT" panose="02020503060305020303" pitchFamily="18" charset="0"/>
              </a:rPr>
              <a:t>Contact the bank directly .</a:t>
            </a:r>
          </a:p>
          <a:p>
            <a:r>
              <a:rPr lang="en-US" dirty="0">
                <a:latin typeface="Bell MT" panose="02020503060305020303" pitchFamily="18" charset="0"/>
              </a:rPr>
              <a:t>Report the email 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31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9761C-4C38-33B0-0E44-34AA7388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Bahnschrift Condensed" panose="020B0502040204020203" pitchFamily="34" charset="0"/>
              </a:rPr>
              <a:t>Quiz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9884C-8B3B-BD97-4917-2601A01E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Bahnschrift SemiBold Condensed" panose="020B0502040204020203" pitchFamily="34" charset="0"/>
              </a:rPr>
              <a:t>Question 1</a:t>
            </a:r>
            <a:r>
              <a:rPr lang="en-US" dirty="0"/>
              <a:t> </a:t>
            </a:r>
            <a:r>
              <a:rPr lang="en-US" dirty="0">
                <a:latin typeface="Bell MT" panose="02020503060305020303" pitchFamily="18" charset="0"/>
              </a:rPr>
              <a:t>: What is phishing ?</a:t>
            </a:r>
          </a:p>
          <a:p>
            <a:r>
              <a:rPr lang="en-US" dirty="0">
                <a:latin typeface="Bell MT" panose="02020503060305020303" pitchFamily="18" charset="0"/>
              </a:rPr>
              <a:t> A. Safe email</a:t>
            </a:r>
          </a:p>
          <a:p>
            <a:r>
              <a:rPr lang="en-US" dirty="0">
                <a:latin typeface="Bell MT" panose="02020503060305020303" pitchFamily="18" charset="0"/>
              </a:rPr>
              <a:t>B. Fraudulent attempt to steal information 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Bahnschrift SemiBold Condensed" panose="020B0502040204020203" pitchFamily="34" charset="0"/>
              </a:rPr>
              <a:t>Question 2 </a:t>
            </a:r>
            <a:r>
              <a:rPr lang="en-US" dirty="0">
                <a:latin typeface="Bell MT" panose="02020503060305020303" pitchFamily="18" charset="0"/>
              </a:rPr>
              <a:t>: Should you share your OTP ?</a:t>
            </a:r>
          </a:p>
          <a:p>
            <a:r>
              <a:rPr lang="en-US" dirty="0">
                <a:latin typeface="Bell MT" panose="02020503060305020303" pitchFamily="18" charset="0"/>
              </a:rPr>
              <a:t> A. Yes</a:t>
            </a:r>
          </a:p>
          <a:p>
            <a:r>
              <a:rPr lang="en-US" dirty="0">
                <a:latin typeface="Bell MT" panose="02020503060305020303" pitchFamily="18" charset="0"/>
              </a:rPr>
              <a:t> B. No 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4" name="Action Button: Blank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61460A9-DCE0-4075-9A5D-2CE51B7BF589}"/>
              </a:ext>
            </a:extLst>
          </p:cNvPr>
          <p:cNvSpPr/>
          <p:nvPr/>
        </p:nvSpPr>
        <p:spPr>
          <a:xfrm>
            <a:off x="7877175" y="2790825"/>
            <a:ext cx="533400" cy="428625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D0C803-14D2-28D1-A903-65D4C1D12F3A}"/>
              </a:ext>
            </a:extLst>
          </p:cNvPr>
          <p:cNvCxnSpPr>
            <a:cxnSpLocks/>
          </p:cNvCxnSpPr>
          <p:nvPr/>
        </p:nvCxnSpPr>
        <p:spPr>
          <a:xfrm>
            <a:off x="8029575" y="2962275"/>
            <a:ext cx="152400" cy="85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87C1DE-2F9A-DC19-81BD-6E8EA7EC4D95}"/>
              </a:ext>
            </a:extLst>
          </p:cNvPr>
          <p:cNvCxnSpPr>
            <a:cxnSpLocks/>
          </p:cNvCxnSpPr>
          <p:nvPr/>
        </p:nvCxnSpPr>
        <p:spPr>
          <a:xfrm>
            <a:off x="8029575" y="3048000"/>
            <a:ext cx="133350" cy="121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1158B10-6F49-2E54-0A78-EDFB1725A835}"/>
                  </a:ext>
                </a:extLst>
              </p14:cNvPr>
              <p14:cNvContentPartPr/>
              <p14:nvPr/>
            </p14:nvContentPartPr>
            <p14:xfrm>
              <a:off x="7982100" y="3019485"/>
              <a:ext cx="129960" cy="107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1158B10-6F49-2E54-0A78-EDFB1725A8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5620" y="3013365"/>
                <a:ext cx="1422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E7E48C4-40AE-B4E0-231A-68AF3509759E}"/>
                  </a:ext>
                </a:extLst>
              </p14:cNvPr>
              <p14:cNvContentPartPr/>
              <p14:nvPr/>
            </p14:nvContentPartPr>
            <p14:xfrm>
              <a:off x="8115300" y="2876205"/>
              <a:ext cx="219240" cy="257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E7E48C4-40AE-B4E0-231A-68AF350975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08820" y="2870085"/>
                <a:ext cx="231480" cy="270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Action Button: Blank 2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D8E0B69-B6AE-B083-E6CA-A3F7E3963EC7}"/>
              </a:ext>
            </a:extLst>
          </p:cNvPr>
          <p:cNvSpPr/>
          <p:nvPr/>
        </p:nvSpPr>
        <p:spPr>
          <a:xfrm>
            <a:off x="2285999" y="4933950"/>
            <a:ext cx="485776" cy="409576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F73E4DB-05AB-97CD-9458-0C17F69DBD42}"/>
                  </a:ext>
                </a:extLst>
              </p14:cNvPr>
              <p14:cNvContentPartPr/>
              <p14:nvPr/>
            </p14:nvContentPartPr>
            <p14:xfrm>
              <a:off x="3362220" y="666525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F73E4DB-05AB-97CD-9458-0C17F69DBD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3220" y="65752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376F127-A7AE-7A27-477D-9F277088CD2C}"/>
              </a:ext>
            </a:extLst>
          </p:cNvPr>
          <p:cNvGrpSpPr/>
          <p:nvPr/>
        </p:nvGrpSpPr>
        <p:grpSpPr>
          <a:xfrm>
            <a:off x="2333700" y="5006685"/>
            <a:ext cx="388080" cy="299160"/>
            <a:chOff x="2333700" y="5006685"/>
            <a:chExt cx="38808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28C40A-9FE9-AB05-D663-1820D1C22488}"/>
                    </a:ext>
                  </a:extLst>
                </p14:cNvPr>
                <p14:cNvContentPartPr/>
                <p14:nvPr/>
              </p14:nvContentPartPr>
              <p14:xfrm>
                <a:off x="2333700" y="5171925"/>
                <a:ext cx="136080" cy="130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28C40A-9FE9-AB05-D663-1820D1C224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7220" y="5165805"/>
                  <a:ext cx="148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B1B92E4-3860-37AC-F2DC-288E3A7E913A}"/>
                    </a:ext>
                  </a:extLst>
                </p14:cNvPr>
                <p14:cNvContentPartPr/>
                <p14:nvPr/>
              </p14:nvContentPartPr>
              <p14:xfrm>
                <a:off x="2476260" y="5006685"/>
                <a:ext cx="245520" cy="299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B1B92E4-3860-37AC-F2DC-288E3A7E91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70140" y="5000565"/>
                  <a:ext cx="257760" cy="31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38550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D1C8-94E3-AD34-BB0F-4C5E92B8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Bahnschrift Condensed" panose="020B0502040204020203" pitchFamily="34" charset="0"/>
              </a:rPr>
              <a:t>Conclusion 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AD6FF-7D9C-5C89-6ACE-CB220E805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Be alert.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Verify email and websites.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Never share passwords or OTP’s.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Report suspicious messages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2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AAE0-B969-BEEC-EFAD-4A0350AE3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21C2E-5CB6-6EED-FF4B-1730946FC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Broadway" panose="04040905080B02020502" pitchFamily="82" charset="0"/>
              </a:rPr>
              <a:t>         Thank </a:t>
            </a:r>
          </a:p>
          <a:p>
            <a:pPr marL="0" indent="0">
              <a:buNone/>
            </a:pPr>
            <a:r>
              <a:rPr lang="en-US" sz="9600" dirty="0">
                <a:latin typeface="Broadway" panose="04040905080B02020502" pitchFamily="82" charset="0"/>
              </a:rPr>
              <a:t>            You</a:t>
            </a:r>
            <a:endParaRPr lang="en-IN" sz="9600" dirty="0"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19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270</Words>
  <Application>Microsoft Office PowerPoint</Application>
  <PresentationFormat>Widescreen</PresentationFormat>
  <Paragraphs>77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Aptos Display</vt:lpstr>
      <vt:lpstr>Arial</vt:lpstr>
      <vt:lpstr>Arial Black</vt:lpstr>
      <vt:lpstr>Bahnschrift Condensed</vt:lpstr>
      <vt:lpstr>Bahnschrift SemiBold Condensed</vt:lpstr>
      <vt:lpstr>Bell MT</vt:lpstr>
      <vt:lpstr>Broadway</vt:lpstr>
      <vt:lpstr>Google Sans</vt:lpstr>
      <vt:lpstr>Wingdings</vt:lpstr>
      <vt:lpstr>Office Theme</vt:lpstr>
      <vt:lpstr>Phishing Awareness  Training</vt:lpstr>
      <vt:lpstr>PowerPoint Presentation</vt:lpstr>
      <vt:lpstr>Types  of  Phishing ?</vt:lpstr>
      <vt:lpstr>Recognizing  Phishing  Emails </vt:lpstr>
      <vt:lpstr>Identifying  Fake  Websites</vt:lpstr>
      <vt:lpstr> Social   Engineering </vt:lpstr>
      <vt:lpstr>How  to  Stay  Safe</vt:lpstr>
      <vt:lpstr>Real –World Example</vt:lpstr>
      <vt:lpstr>Quiz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MANSWI PATIL</dc:creator>
  <cp:lastModifiedBy>MANSWI PATIL</cp:lastModifiedBy>
  <cp:revision>2</cp:revision>
  <dcterms:created xsi:type="dcterms:W3CDTF">2026-07-20T14:26:44Z</dcterms:created>
  <dcterms:modified xsi:type="dcterms:W3CDTF">2026-07-30T16:56:35Z</dcterms:modified>
</cp:coreProperties>
</file>